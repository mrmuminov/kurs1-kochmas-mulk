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imoya" id="{152aa2d1-7cf6-d7b4-0a59-ddbeb6189b9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B2A"/>
                </a:solidFill>
                <a:latin typeface="+mn-lt"/>
              </a:rPr>
              <a:t>Javob vaqti medianasi, ms (yozuvlar soni)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Obyektlar</c:v>
                </c:pt>
              </c:strCache>
            </c:strRef>
          </c:tx>
          <c:spPr>
            <a:solidFill>
              <a:srgbClr val="D9692A"/>
            </a:solidFill>
            <a:ln w="38100" cap="flat">
              <a:solidFill>
                <a:srgbClr val="D969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692A"/>
              </a:solidFill>
              <a:ln w="9525" cap="flat">
                <a:solidFill>
                  <a:srgbClr val="D969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100</c:v>
                  </c:pt>
                  <c:pt idx="1">
                    <c:v>1 000</c:v>
                  </c:pt>
                  <c:pt idx="2">
                    <c:v>10 000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</c:v>
                </c:pt>
                <c:pt idx="1">
                  <c:v>12.6</c:v>
                </c:pt>
                <c:pt idx="2">
                  <c:v>55.3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Mijozlar</c:v>
                </c:pt>
              </c:strCache>
            </c:strRef>
          </c:tx>
          <c:spPr>
            <a:solidFill>
              <a:srgbClr val="2A7F77"/>
            </a:solidFill>
            <a:ln w="38100" cap="flat">
              <a:solidFill>
                <a:srgbClr val="2A7F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F77"/>
              </a:solidFill>
              <a:ln w="9525" cap="flat">
                <a:solidFill>
                  <a:srgbClr val="2A7F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100</c:v>
                  </c:pt>
                  <c:pt idx="1">
                    <c:v>1 000</c:v>
                  </c:pt>
                  <c:pt idx="2">
                    <c:v>10 000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8.9</c:v>
                </c:pt>
                <c:pt idx="1">
                  <c:v>11.5</c:v>
                </c:pt>
                <c:pt idx="2">
                  <c:v>39.6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Bitimlar</c:v>
                </c:pt>
              </c:strCache>
            </c:strRef>
          </c:tx>
          <c:spPr>
            <a:solidFill>
              <a:srgbClr val="8FB9B0"/>
            </a:solidFill>
            <a:ln w="38100" cap="flat">
              <a:solidFill>
                <a:srgbClr val="8FB9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FB9B0"/>
              </a:solidFill>
              <a:ln w="9525" cap="flat">
                <a:solidFill>
                  <a:srgbClr val="8FB9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100</c:v>
                  </c:pt>
                  <c:pt idx="1">
                    <c:v>1 000</c:v>
                  </c:pt>
                  <c:pt idx="2">
                    <c:v>10 000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9.1</c:v>
                </c:pt>
                <c:pt idx="1">
                  <c:v>12.4</c:v>
                </c:pt>
                <c:pt idx="2">
                  <c:v>42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Bosh sahifa</c:v>
                </c:pt>
              </c:strCache>
            </c:strRef>
          </c:tx>
          <c:spPr>
            <a:solidFill>
              <a:srgbClr val="5B6F6D"/>
            </a:solidFill>
            <a:ln w="38100" cap="flat">
              <a:solidFill>
                <a:srgbClr val="5B6F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B6F6D"/>
              </a:solidFill>
              <a:ln w="9525" cap="flat">
                <a:solidFill>
                  <a:srgbClr val="5B6F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100</c:v>
                  </c:pt>
                  <c:pt idx="1">
                    <c:v>1 000</c:v>
                  </c:pt>
                  <c:pt idx="2">
                    <c:v>10 000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8.8</c:v>
                </c:pt>
                <c:pt idx="1">
                  <c:v>8.3</c:v>
                </c:pt>
                <c:pt idx="2">
                  <c:v>8.8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F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F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Mavzu: ko‘chmas mulk agentligi faoliyatini avtomatlashtirish. Natija: ishlaydigan Flask + SQLite prototipi va hisobot.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Raqamlar hisobotning 1-jadvalidan. Tendensiya: bitimlar va ipoteka hajmi o‘sib bormoqda.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Mavjud analoglar (e’lon portallari, davlat reyestri, CRM, daftar) agentlik ichki hisobini to‘liq yopmaydi; hisobotning 3-jadvali.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diagrammasi 1-rasm. Rollar bo‘yicha ruxsatlar 7-jadvalda.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Tanlov asosi: oddiylik (KISS). Tashqi kalit cheklovlari bazada e’lon qilinmagan, yaxlitlik ilovada ta’minlanadi; bu rivojlantirish yo‘nalishi.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Bitim formasi: obyekt, xaridor, narx, sana. Tekshiruvdan o‘tsa komissiya hisoblanadi, bitim yoziladi, obyekt sold=1 bo‘ladi.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 shakllaridagi ma’lumotlar namuna sifatida kiritilgan.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Top 10:2021 kategoriyalari. Cheklovlar hisobotda ochiq qayd etilgan.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O‘lchov: lokal, Flask ichki serveri, har sahifaga 50 so‘rov, Python 3.14.7, Flask 3.1.3, SQLite 3.53.1. Brauzerda chizish vaqti hisobga olinmagan.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Qo‘lda ishlashga nisbatan vaqt tejalishi o‘lchanmagan: sinov ekspluatatsiyasida aniqlanadi.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737360"/>
            <a:ext cx="786384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Ko‘chmas mulk agentligi faoliyatini avtomatlashtirish axborot tizimini loyihalash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Kurs loyihasi, 13-mavzu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Bajardi: ______________   Rahbar: 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Dolzarblik</a:t>
            </a:r>
            <a:endParaRPr lang="en-US" sz="3400" dirty="0"/>
          </a:p>
        </p:txBody>
      </p:sp>
      <p:sp>
        <p:nvSpPr>
          <p:cNvPr id="3" name="Stat 1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229,8 ming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oldi-sotdi shartnomalari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2025-yil yanvar–sentabr, +12,8 %</a:t>
            </a:r>
            <a:endParaRPr lang="en-US" sz="1400" dirty="0"/>
          </a:p>
        </p:txBody>
      </p:sp>
      <p:sp>
        <p:nvSpPr>
          <p:cNvPr id="7" name="Stat 2"/>
          <p:cNvSpPr/>
          <p:nvPr/>
        </p:nvSpPr>
        <p:spPr>
          <a:xfrm>
            <a:off x="324612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110,1 ming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oldi-sotdi shartnomalari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2026-yil I chorak, +48,4 %</a:t>
            </a:r>
            <a:endParaRPr lang="en-US" sz="1400" dirty="0"/>
          </a:p>
        </p:txBody>
      </p:sp>
      <p:sp>
        <p:nvSpPr>
          <p:cNvPr id="11" name="Stat 3"/>
          <p:cNvSpPr/>
          <p:nvPr/>
        </p:nvSpPr>
        <p:spPr>
          <a:xfrm>
            <a:off x="603504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 trln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so‘m ipoteka kreditlari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2026-yil I chorak, +29 %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Bitimlar ko‘payadi: qo‘lda hisob qiyinlashadi, xatolar ko‘payadi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Manba: O‘zbekiston Respublikasi Markaziy banki, «Ko‘chmas mulk bozori tahlili» (2025 III chorak, 2026 I chorak). O‘zgarish o‘tgan yilning mos davriga nisbatan.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Maqsad va vazifalar</a:t>
            </a:r>
            <a:endParaRPr lang="en-US" sz="3400" dirty="0"/>
          </a:p>
        </p:txBody>
      </p:sp>
      <p:sp>
        <p:nvSpPr>
          <p:cNvPr id="3" name="Muammolar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Qo‘lda yuritilgan hisobda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Ma’lumot takrorlanadi va mos kelmaydi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Sotilgan obyekt qayta taklif qilinadi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Komissiya hisobida xato bo‘ladi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Kirish va o‘chirish nazoratsiz</a:t>
            </a:r>
            <a:endParaRPr lang="en-US" sz="1600" dirty="0"/>
          </a:p>
        </p:txBody>
      </p:sp>
      <p:sp>
        <p:nvSpPr>
          <p:cNvPr id="6" name="Maqsa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Maqsad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Agentlik faoliyatini avtomatlashtiruvchi axborot tizimini loyihalash va ishlaydigan prototipini yaratish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971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Tahlil va talablar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UML, ER va algoritmlar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Flask + SQLite, login va rollar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Sinov va o‘lchov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Talablar va rollar</a:t>
            </a:r>
            <a:endParaRPr lang="en-US" sz="3400" dirty="0"/>
          </a:p>
        </p:txBody>
      </p:sp>
      <p:pic>
        <p:nvPicPr>
          <p:cNvPr id="3" name="Image 0" descr="Use case diagrammasi: agent va administr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06240" cy="3374136"/>
          </a:xfrm>
          <a:prstGeom prst="rect">
            <a:avLst/>
          </a:prstGeom>
        </p:spPr>
      </p:pic>
      <p:sp>
        <p:nvSpPr>
          <p:cNvPr id="4" name="Rol 1"/>
          <p:cNvSpPr/>
          <p:nvPr/>
        </p:nvSpPr>
        <p:spPr>
          <a:xfrm>
            <a:off x="4937760" y="1234440"/>
            <a:ext cx="3749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1206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Agent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664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Obyekt, mijoz va bitim: qo‘shish, tahrirlash, ko‘rish</a:t>
            </a:r>
            <a:endParaRPr lang="en-US" sz="1400" dirty="0"/>
          </a:p>
        </p:txBody>
      </p:sp>
      <p:sp>
        <p:nvSpPr>
          <p:cNvPr id="7" name="Rol 2"/>
          <p:cNvSpPr/>
          <p:nvPr/>
        </p:nvSpPr>
        <p:spPr>
          <a:xfrm>
            <a:off x="4937760" y="2331720"/>
            <a:ext cx="3749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Administrator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7614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 huquqlari va obyekt hamda mijozni o‘chirish</a:t>
            </a:r>
            <a:endParaRPr lang="en-US" sz="1400" dirty="0"/>
          </a:p>
        </p:txBody>
      </p:sp>
      <p:sp>
        <p:nvSpPr>
          <p:cNvPr id="10" name="Rol 3"/>
          <p:cNvSpPr/>
          <p:nvPr/>
        </p:nvSpPr>
        <p:spPr>
          <a:xfrm>
            <a:off x="4937760" y="3429000"/>
            <a:ext cx="3749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Tizim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3858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Komissiya 2 %, obyekt «sotilgan», bitimi borlar o‘chirilmaydi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12 funksional va 7 nofunksional talab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Arxitektura va ma’lumotlar bazasi</a:t>
            </a:r>
            <a:endParaRPr lang="en-US" sz="3400" dirty="0"/>
          </a:p>
        </p:txBody>
      </p:sp>
      <p:pic>
        <p:nvPicPr>
          <p:cNvPr id="3" name="Image 0" descr="Tizim arxitekturasi: brauzer, Flask, SQL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2139696"/>
          </a:xfrm>
          <a:prstGeom prst="rect">
            <a:avLst/>
          </a:prstGeom>
        </p:spPr>
      </p:pic>
      <p:pic>
        <p:nvPicPr>
          <p:cNvPr id="4" name="Image 1" descr="ER-diagramma: obyektlar, bitimlar, mijozlar, foydalanuvchi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4140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Monolit Flask ilovasi, 4 qatlam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jadval: obyekt, mijoz, bitim, foydalanuvchi</a:t>
            </a:r>
            <a:endParaRPr lang="en-US" sz="1400" dirty="0"/>
          </a:p>
        </p:txBody>
      </p:sp>
      <p:sp>
        <p:nvSpPr>
          <p:cNvPr id="7" name="Texnologiyalar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Python + Flask  ·  SQLite  ·  Jinja2  ·  Docker  ·  12 marshrut, bitta tashqi kutubxona (Flask)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Bitim tuzish algoritmi</a:t>
            </a:r>
            <a:endParaRPr lang="en-US" sz="3400" dirty="0"/>
          </a:p>
        </p:txBody>
      </p:sp>
      <p:pic>
        <p:nvPicPr>
          <p:cNvPr id="3" name="Image 0" descr="Bitim tuzish blok-sxema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0" cy="3118104"/>
          </a:xfrm>
          <a:prstGeom prst="rect">
            <a:avLst/>
          </a:prstGeom>
        </p:spPr>
      </p:pic>
      <p:sp>
        <p:nvSpPr>
          <p:cNvPr id="4" name="Formula"/>
          <p:cNvSpPr/>
          <p:nvPr/>
        </p:nvSpPr>
        <p:spPr>
          <a:xfrm>
            <a:off x="5303520" y="1280160"/>
            <a:ext cx="33832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0" y="1417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N × 0,02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56 000 $ bitim → komissiya 1 120 $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3063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Obyekt sotuvda, mijoz xaridor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Narx musbat butun son, sana bor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Xato bo‘lsa hech narsa yozilmaydi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Ekran shakllari</a:t>
            </a:r>
            <a:endParaRPr lang="en-US" sz="3400" dirty="0"/>
          </a:p>
        </p:txBody>
      </p:sp>
      <p:pic>
        <p:nvPicPr>
          <p:cNvPr id="3" name="Image 0" descr="Obyektlar sahifasi, agent hisob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023360" cy="2322576"/>
          </a:xfrm>
          <a:prstGeom prst="rect">
            <a:avLst/>
          </a:prstGeom>
        </p:spPr>
      </p:pic>
      <p:pic>
        <p:nvPicPr>
          <p:cNvPr id="4" name="Image 1" descr="Bitimlar sahif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4023360" cy="1801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57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Agent: «O‘chirish» tugmalari ko‘rinmaydi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Bitim tuzish, komissiya avtomatik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Uch ekran bir xil tuzilmada: tepada forma, pastda jadval. Interfeys o‘zbek tilida.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Xavfsizlik va sinov</a:t>
            </a:r>
            <a:endParaRPr lang="en-US" sz="3400" dirty="0"/>
          </a:p>
        </p:txBody>
      </p:sp>
      <p:sp>
        <p:nvSpPr>
          <p:cNvPr id="3" name="Test natijasi"/>
          <p:cNvSpPr/>
          <p:nvPr/>
        </p:nvSpPr>
        <p:spPr>
          <a:xfrm>
            <a:off x="457200" y="128016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avtomatik testlar o‘tdi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Himoya olib tashlanganda test yiqildi. Agentning o‘chirish so‘rovi: 403.</a:t>
            </a:r>
            <a:endParaRPr lang="en-US" sz="1400" dirty="0"/>
          </a:p>
        </p:txBody>
      </p:sp>
      <p:sp>
        <p:nvSpPr>
          <p:cNvPr id="7" name="OWASP A01"/>
          <p:cNvSpPr/>
          <p:nvPr/>
        </p:nvSpPr>
        <p:spPr>
          <a:xfrm>
            <a:off x="3566160" y="1280160"/>
            <a:ext cx="51206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12801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353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Kirishni boshqarish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Rollar, serverda tekshiruv</a:t>
            </a:r>
            <a:endParaRPr lang="en-US" sz="1400" dirty="0"/>
          </a:p>
        </p:txBody>
      </p:sp>
      <p:sp>
        <p:nvSpPr>
          <p:cNvPr id="11" name="OWASP A02"/>
          <p:cNvSpPr/>
          <p:nvPr/>
        </p:nvSpPr>
        <p:spPr>
          <a:xfrm>
            <a:off x="3566160" y="2057400"/>
            <a:ext cx="51206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057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Kriptografiya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Parollar scrypt bilan heshlanadi</a:t>
            </a:r>
            <a:endParaRPr lang="en-US" sz="1400" dirty="0"/>
          </a:p>
        </p:txBody>
      </p:sp>
      <p:sp>
        <p:nvSpPr>
          <p:cNvPr id="15" name="OWASP A03"/>
          <p:cNvSpPr/>
          <p:nvPr/>
        </p:nvSpPr>
        <p:spPr>
          <a:xfrm>
            <a:off x="3566160" y="2834640"/>
            <a:ext cx="51206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03320" y="28346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907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In’ektsiya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Parametrli SQL, Jinja2 ekranlash</a:t>
            </a:r>
            <a:endParaRPr lang="en-US" sz="1400" dirty="0"/>
          </a:p>
        </p:txBody>
      </p:sp>
      <p:sp>
        <p:nvSpPr>
          <p:cNvPr id="19" name="OWASP A07"/>
          <p:cNvSpPr/>
          <p:nvPr/>
        </p:nvSpPr>
        <p:spPr>
          <a:xfrm>
            <a:off x="3566160" y="3611880"/>
            <a:ext cx="51206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36118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A07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685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Autentifikatsiya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Login, sessiya, umumiy xato xabari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Cheklovlar: CSRF-token, urinishlar chegarasi va HTTPS hali yo‘q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Samaradorlik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atija 1"/>
          <p:cNvSpPr/>
          <p:nvPr/>
        </p:nvSpPr>
        <p:spPr>
          <a:xfrm>
            <a:off x="5943600" y="1280160"/>
            <a:ext cx="27432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 ms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 sekin sahifa, 1 000 yozuvda (talab: &lt; 100 ms)</a:t>
            </a:r>
            <a:endParaRPr lang="en-US" sz="1400" dirty="0"/>
          </a:p>
        </p:txBody>
      </p:sp>
      <p:sp>
        <p:nvSpPr>
          <p:cNvPr id="7" name="Natija 2"/>
          <p:cNvSpPr/>
          <p:nvPr/>
        </p:nvSpPr>
        <p:spPr>
          <a:xfrm>
            <a:off x="5943600" y="2880360"/>
            <a:ext cx="27432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 MB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sahifa hajmi 10 000 yozuvda: sahifalash kerak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Xulosa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73736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Ishlaydigan tizim: 12 marshrut, login va 2 rol, 10 test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1 000 yozuvgacha javob 15 ms dan kam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Keyingi qadam: qidiruv, sahifalash, CSRF, foydalanuvchilarni boshqarish</a:t>
            </a:r>
            <a:endParaRPr lang="en-US" sz="18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D9692A"/>
                </a:solidFill>
              </a:rPr>
              <a:t>E’tiboringiz uchun rahmat!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chmas mulk">
  <a:themeElements>
    <a:clrScheme name="Kochmas mulk">
      <a:dk1>
        <a:srgbClr val="1B2B2A"/>
      </a:dk1>
      <a:lt1>
        <a:srgbClr val="FFFFFF"/>
      </a:lt1>
      <a:dk2>
        <a:srgbClr val="0F3D3E"/>
      </a:dk2>
      <a:lt2>
        <a:srgbClr val="EAF1EF"/>
      </a:lt2>
      <a:accent1>
        <a:srgbClr val="D9692A"/>
      </a:accent1>
      <a:accent2>
        <a:srgbClr val="2A7F77"/>
      </a:accent2>
      <a:accent3>
        <a:srgbClr val="8FB9B0"/>
      </a:accent3>
      <a:accent4>
        <a:srgbClr val="B9893B"/>
      </a:accent4>
      <a:accent5>
        <a:srgbClr val="5B6F6D"/>
      </a:accent5>
      <a:accent6>
        <a:srgbClr val="A23E2A"/>
      </a:accent6>
      <a:hlink>
        <a:srgbClr val="2A7F77"/>
      </a:hlink>
      <a:folHlink>
        <a:srgbClr val="5B6F6D"/>
      </a:folHlink>
    </a:clrScheme>
    <a:fontScheme name="Kochmas mu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Ko‘chmas mulk agentligi axborot tizimi</dc:title>
  <dc:subject>PptxGenJS Presentation</dc:subject>
  <dc:creator>PptxGenJS</dc:creator>
  <cp:lastModifiedBy>PptxGenJS</cp:lastModifiedBy>
  <cp:revision>1</cp:revision>
  <dcterms:created xsi:type="dcterms:W3CDTF">2026-10-26T13:02:24Z</dcterms:created>
  <dcterms:modified xsi:type="dcterms:W3CDTF">2026-10-26T13:02:24Z</dcterms:modified>
</cp:coreProperties>
</file>